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Unsupervised Visual Anomaly Detection for Industrial Quality Inspection</a:t>
            </a:r>
          </a:p>
          <a:p>
            <a:pPr>
              <a:spcBef>
                <a:spcPts val="1000"/>
              </a:spcBef>
              <a:defRPr sz="1900">
                <a:solidFill>
                  <a:srgbClr val="06B6D4"/>
                </a:solidFill>
              </a:defRPr>
            </a:pPr>
            <a:r>
              <a:t>Accuracy–Latency Comparison of PatchCore and EfficientAD</a:t>
            </a:r>
          </a:p>
          <a:p>
            <a:pPr>
              <a:spcBef>
                <a:spcPts val="600"/>
              </a:spcBef>
              <a:defRPr sz="1400" b="1">
                <a:solidFill>
                  <a:srgbClr val="64748B"/>
                </a:solidFill>
              </a:defRPr>
            </a:pPr>
            <a:r>
              <a:t>Mini Project 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291840"/>
            <a:ext cx="5120640" cy="2834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474720"/>
            <a:ext cx="4754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SUBMITTED BY: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1. Pratik Sawant (PRN: 20240802324)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2. Anvesh Patil (PRN: 20240802334)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3. Jayesh Deshmukh (PRN: 20240802335)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291840"/>
            <a:ext cx="5120640" cy="2834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3474720"/>
            <a:ext cx="4754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ACADEMIC &amp; GUIDE DETAILS: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Class / Division: TY B.Tech (AI &amp; ML)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Department: School of Computer Science, Engineering &amp; Applications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Guided by: [Faculty In-Charge Name]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Institution: D Y Patil International University, Pune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Academic Year: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MINI PROJECT PRESENTATION — AIM3003: COMPUTER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28600"/>
            <a:ext cx="1097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6B6D4"/>
                </a:solidFill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2064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Project Background &amp; Purpose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Industrial manufacturing requires strict zero-defect quality control across fast-moving production lines.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Visual inspection is the primary barrier preventing flawed parts from reaching customers or critical assemblies.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Our project introduces an automated computer vision inspection framework that detects surface anomalies without needing defective training data.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We model the normal visual manifold using one-class unsupervised learning to identify unseen flaws.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21208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Comparative Research Focus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Conducts an empirical accuracy-latency trade-off comparison between two state-of-the-art vision paradigms: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1. PatchCore (Roth et al., CVPR 2022): Memory-bank non-parametric modeling with 0 training epochs.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2. EfficientAD (Batzner et al., WACV 2024): Lightweight student-teacher distillation with sub-10ms latency.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Delivers an interactive Streamlit dashboard with JET heatmaps and SQLite audit logging.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MINI PROJECT PRESENTATION — AIM3003: COMPUTER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28600"/>
            <a:ext cx="1097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6B6D4"/>
                </a:solidFill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2064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The Core Problem &amp; Current Practices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What problem does the project address? Detecting micro-cracks, scratches, contamination, and structural defects in industrial parts where defective samples are scarce.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How is it handled currently? 1) Manual human visual inspection, which suffers from fatigue, high labor costs, and subjective inconsistency; and 2) Supervised deep learning (YOLO/CNNs).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Supervised models require thousands of labeled defect examples and fail silently on novel defect forms.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21208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Difficulties &amp; Gaps Aimed to Reduce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Defect Scarcity Bottleneck: Factory scrap rates are &lt;0.1%; collecting balanced defect datasets is economically impossible.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Unbounded Flaw Variations: Defects take infinite unknown visual shapes.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Accuracy-Latency Trade-off Gap: PatchCore provides ~99% AUROC but has high query latency; EfficientAD provides millisecond speed but requires heavy GPU training.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Lack of Explainable Localization: Operators need pixel heatmaps, not just black-box PASS/FAIL labels.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MINI PROJECT PRESENTATION — AIM3003: COMPUTER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28600"/>
            <a:ext cx="1097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6B6D4"/>
                </a:solidFill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2064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Why Choose This Project?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High Industry Impact: Visual inspection is a top-tier commercial application of computer vision in aerospace, automotive, and pharmaceuticals.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Deep Algorithmic Value: Offers practical implementation experience with intermediate PyTorch layer hooks, dimensionality reduction, and greedy coreset algorithms.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Safety-Critical Need: A single undetected defect in aircraft fasteners or medical vials causes severe failures, costly recalls, and life-safety hazards.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21208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Who Benefits From This Project?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Quality Assurance Engineers: Automated 24/7 inspection with objective, mathematical consistency.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Factory Floor Operators: Real-time visual heatmaps pinpointing exact flaw locations instantly.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Manufacturing System Architects: Objective engineering data on whether to deploy memory banks or student-teacher models based on hardware constraints.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MINI PROJECT PRESENTATION — AIM3003: COMPUTER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28600"/>
            <a:ext cx="1097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6B6D4"/>
                </a:solidFill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2064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Core Technical Objectives (1 - 3)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1. Design and Implement PatchCore from scratch in PyTorch, extracting multi-scale patch features from pre-trained convolutional backbones (layer2 and layer3) without wrapper libraries.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2. Optimize the patch memory bank using Johnson-Lindenstrauss random projection and greedy k-Center coreset subsampling, achieving a 99% reduction in stored vectors.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3. Validate and Compare PatchCore across all 15 MVTec AD categories and benchmark against EfficientAD across representative classes.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21208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Applied &amp; Deployment Objectives (4 - 5)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4. Calculate and Analyze standard industrial metrics: Image-level AUROC, Pixel-level AUROC, per-sample inference latency (ms), and GPU/CPU memory consumption.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5. Develop and Display an interactive Streamlit inspection application featuring real-time JET defect heatmaps, PASS/DEFECT classification, and automated SQLite audit logging.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MINI PROJECT PRESENTATION — AIM3003: COMPUTER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28600"/>
            <a:ext cx="1097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6B6D4"/>
                </a:solidFill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2064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Features Included in Project Scope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Complete from-scratch PyTorch implementation of PatchCore (feature extraction, neighborhood pooling, greedy k-center).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MVTec AD dataset ingestion (15 categories: 5 textures, 10 objects) with pixel-level ground truth mask alignment.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Benchmarking EfficientAD student-teacher models on 5 representative categories (bottle, cable, capsule, metal_nut, transistor).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Robustness evaluation under synthetic lighting shifts (+/- 20% brightness) and sample-size reduction (10%, 25%, 50%, 100%).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Interactive Streamlit GUI with SQLite exception logging.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21208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What is Outside the Project Scope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Physical camera hardware mounting and conveyor belt mechanical trigger integration.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Industrial fieldbus communication protocols (e.g., Modbus, Profinet, EtherCAT).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Full training of EfficientAD across all 15 categories due to academic GPU compute limits.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3D point cloud and volumetric sensor processing (MVTec 3D-AD).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MINI PROJECT PRESENTATION — AIM3003: COMPUTER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28600"/>
            <a:ext cx="1097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6B6D4"/>
                </a:solidFill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2064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Data Pipeline &amp; Feature Extraction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Step 1: Dataset Pipeline — Standardize MVTec AD images to 224x224, apply ImageNet normalization, and pair test anomalies with ground-truth binary masks.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Step 2: Multi-Scale Patch Extraction — Attach PyTorch forward hooks to layer2 and layer3 of ResNet18/WideResNet50. Apply 3x3 stride-1 average pooling to aggregate local neighborhoods into 384-D patch tokens.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Step 3: Coreset Memory Bank Construction — Project features to 128-D via Johnson-Lindenstrauss. Run Min-Max Greedy k-Center to compress 163,856 patches to 1,638 vectors (1.0% coreset).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21208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Distillation, Benchmarking &amp; App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Step 4: EfficientAD Knowledge Distillation — Train student network and autoencoder to mimic a fixed pre-trained teacher network exclusively on normal parts.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Step 5: Comparative Evaluation &amp; Robustness Testing — Benchmark detection accuracy, millisecond latency, and few-shot degradation.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Step 6: Dashboard &amp; Audit Trail Deployment — Build Streamlit UI for visual inspection with automated SQLite logging.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MINI PROJECT PRESENTATION — AIM3003: COMPUTER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Working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28600"/>
            <a:ext cx="1097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6B6D4"/>
                </a:solidFill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2064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Step-by-Step Workflow Mechanics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1. User Input: Operator uploads an inspection image or chooses an online sample from the MVTec AD test stream.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2. Patch Extraction: Input image passes through convolutional backbone; multi-scale neighborhood patch descriptors are extracted.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3. Distance Calculation: Each query patch computes Euclidean distance to its nearest neighbor in the stored normal memory bank: s_i = min || p_i - m ||.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4. Heatmap Generation: Patch distances are bilinearly upsampled to 224x224 and smoothed using a 2D Gaussian filter (sigma = 4).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21208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Output Produced &amp; Audit Logging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5. Visual Output: Anomaly map normalized and converted to a JET colormap overlay: Display = 0.6 * Image + 0.4 * Heatmap.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6. Verdict Decision: Maximum patch distance represents image anomaly score. Score &gt;= Threshold -&gt; DEFECT; Score &lt; Threshold -&gt; PASS.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7. Telemetry &amp; Database Record: Automatically commits timestamp, part category, anomaly score, threshold, verdict, and latency into inspections.db.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MINI PROJECT PRESENTATION — AIM3003: COMPUTER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28600"/>
            <a:ext cx="1097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6B6D4"/>
                </a:solidFill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2064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High-Reliability Industrial Domains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Aerospace &amp; Defense: Surface inspection of turbine blades, fastener integrity, composite panels, and machined engine casings.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Pharmaceutical &amp; Healthcare: Detection of cracked glass vials, particulate contamination in liquid medicine, and damaged blister packs.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Semiconductor &amp; PCB Manufacturing: Automated detection of short circuits, missing solder joints, bridge defects, and scratched wafers.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21208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Automotive &amp; Fast-Moving Consumer Goods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Automotive Assembly: Quality inspection of engine piston rings, brake discs, welded chassis seams, and exterior paint finish.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Packaging &amp; Bottling Lines: Monitoring bottle seal completeness, capping alignment, label positioning, and structural wall cracks.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Textile &amp; Material Production: Weave irregularities, surface abrasions, and color deviations in carpet, leather, and tile production.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MINI PROJECT PRESENTATION — AIM3003: COMPUTER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28600"/>
            <a:ext cx="1097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6B6D4"/>
                </a:solidFill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2064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Algorithmic &amp; Operational Benefits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1. Zero Defect Training Data Needed: Eliminates defect collection bottlenecks by learning entirely from normal, defect-free parts.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2. Unseen Flaw Detection: Accurately flags novel, unexpected defect types that supervised classifiers miss.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3. 99% Memory Reduction via Coreset Optimization: Greedy k-center reduces memory bank from 163,856 to 1,638 patches without performance loss.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21208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Speed, Explainability &amp; Traceability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4. Zero-Epoch Instant Deployment: PatchCore requires no backpropagation training, allowing immediate deployment.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5. Pixel-Level Visual Explainability: Generates intuitive JET defect heatmaps rather than black-box binary decisions.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6. Regulatory Compliance: Automated SQLite logging fulfills ISO 9001 and aerospace QA traceability standards.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MINI PROJECT PRESENTATION — AIM3003: COMPUTER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28600"/>
            <a:ext cx="1097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6B6D4"/>
                </a:solidFill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2064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Computational &amp; Architectural Constraints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1. Higher Latency on CPU Hardware: PatchCore nearest-neighbor search takes ~2.2 - 2.5 seconds on CPU, requiring GPU/INT8 quantization for fast conveyor speeds.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2. Training Overhead for EfficientAD: Requires ~70,000 backpropagation iterations per category, requiring dedicated GPU training compute.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3. Memory Footprint Scales with Categories: Storing separate patch banks for 15 classes requires substantial RAM/VRAM.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21208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Visual &amp; Environmental Sensitivity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4. Sensitivity to Extreme Misalignment: Large rotational misalignments or viewpoint changes can produce false alarms.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5. 2D Surface Constraint: Cannot detect internal sub-surface voids or volumetric structural flaws that require X-ray/ultrasound sensors.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MINI PROJECT PRESENTATION — AIM3003: COMPUTER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28600"/>
            <a:ext cx="1097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6B6D4"/>
                </a:solidFill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2064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Summary of What Was Developed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Developed an end-to-end unsupervised visual defect inspection framework for industrial quality control.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Implemented PatchCore from scratch in PyTorch with multi-scale layer hooks and greedy k-Center subsampling.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Built a functional Streamlit inspection interface with real-time JET heatmaps and automated SQLite audit logging.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Established a clear empirical baseline comparing memory-bank methods against student-teacher networks.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21208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Objectives Met &amp; Main Learning Outcomes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Objectives Achieved: All 5 primary objectives achieved—scratch implementation, 99% coreset reduction, empirical validation, metric evaluation, and GUI deployment.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Empirical Validation: Verified clean separation on MVTec 'bottle' (Defect score: 3.28 vs Normal score: 1.30 against threshold 2.50).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Key Learning: Mastered the practical engineering trade-offs between zero-shot memory-bank accuracy and millisecond distillation latency.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MINI PROJECT PRESENTATION — AIM3003: COMPUTER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28600"/>
            <a:ext cx="1097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6B6D4"/>
                </a:solidFill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2064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Edge Deployment &amp; Architectural Improvements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1. Edge Hardware Quantization: Apply INT8 post-training quantization and TensorRT compilation to drop CPU latency from ~2500ms to &lt;50ms for Raspberry Pi / Jetson deployment.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2. Unified Multi-Class Model: Develop a single unified memory bank / distillation network that inspects all 15 MVTec classes simultaneously without switching checkpoints.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3. 3D Vision &amp; Point Cloud Integration: Expand framework to MVTec 3D-AD by fusing RGB images with depth point clouds to detect 3D surface dents.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21208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Factory Automation &amp; PLC Connectivity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4. Industrial PLC Bus Integration: Connect SQLite audit logger to industrial communication protocols (Modbus / OPC-UA) to trigger pneumatic rejection arms on factory sorters.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5. Active Learning Feedback Loop: Enable quality operators to confirm false alarms, dynamically updating the coreset memory bank.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MINI PROJECT PRESENTATION — AIM3003: COMPUTER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28600"/>
            <a:ext cx="1097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6B6D4"/>
                </a:solidFill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728655" cy="50292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628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300" b="1">
                <a:solidFill>
                  <a:srgbClr val="2563EB"/>
                </a:solidFill>
              </a:defRPr>
            </a:pPr>
            <a:r>
              <a:t>1. PatchCore (Main Benchmark Paper):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Roth, K., Pemula, L., Zepeda, J., Schölkopf, B., Brox, T., &amp; Gehler, P. (2022). Towards Total Recall in Industrial Anomaly Detection. In Proceedings of the IEEE/CVF Conference on Computer Vision and Pattern Recognition (CVPR), pp. 14298–14308.</a:t>
            </a:r>
          </a:p>
          <a:p>
            <a:pPr>
              <a:spcBef>
                <a:spcPts val="600"/>
              </a:spcBef>
              <a:defRPr sz="1300" b="1">
                <a:solidFill>
                  <a:srgbClr val="2563EB"/>
                </a:solidFill>
              </a:defRPr>
            </a:pPr>
            <a:r>
              <a:t>2. EfficientAD (Comparison Architecture):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Batzner, K., Heckler, L., &amp; König, R. (2024). EfficientAD: Accurate Visual Anomaly Detection at Millisecond-Level Latencies. In Proceedings of the IEEE/CVF Winter Conference on Applications of Computer Vision (WACV), pp. 127–137.</a:t>
            </a:r>
          </a:p>
          <a:p>
            <a:pPr>
              <a:spcBef>
                <a:spcPts val="600"/>
              </a:spcBef>
              <a:defRPr sz="1300" b="1">
                <a:solidFill>
                  <a:srgbClr val="2563EB"/>
                </a:solidFill>
              </a:defRPr>
            </a:pPr>
            <a:r>
              <a:t>3. MVTec AD (Benchmark Dataset):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Bergmann, P., Fauser, M., Sattlegger, D., &amp; Steger, C. (2019). MVTec AD — A Comprehensive Real-World Dataset for Unsupervised Anomaly Detection. In Proceedings of the IEEE/CVF Conference on Computer Vision and Pattern Recognition (CVPR), pp. 9584–9592.</a:t>
            </a:r>
          </a:p>
          <a:p>
            <a:pPr>
              <a:spcBef>
                <a:spcPts val="600"/>
              </a:spcBef>
              <a:defRPr sz="1300" b="1">
                <a:solidFill>
                  <a:srgbClr val="2563EB"/>
                </a:solidFill>
              </a:defRPr>
            </a:pPr>
            <a:r>
              <a:t>4. PaDiM (Baseline Comparison):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Defard, T., Setkov, A., Loesch, A., &amp; Audigier, R. (2021). PaDiM: A Patch Distribution Modeling Framework for Anomaly Detection and Localization. In International Conference on Pattern Recognition (ICPR Workshops), Springer LNCS 12664, pp. 475–489.</a:t>
            </a:r>
          </a:p>
          <a:p>
            <a:pPr>
              <a:spcBef>
                <a:spcPts val="600"/>
              </a:spcBef>
              <a:defRPr sz="1300" b="1">
                <a:solidFill>
                  <a:srgbClr val="2563EB"/>
                </a:solidFill>
              </a:defRPr>
            </a:pPr>
            <a:r>
              <a:t>5. VisA (Benchmark Dataset &amp; Self-Supervision):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Zou, Y., Jeong, J., Pemula, L., Zhang, D., &amp; Dhome, M. (2022). SPot-the-Difference: Self-Supervised Pre-training for Anomaly Detection and Segmentation (VisA). In European Conference on Computer Vision (ECCV), Springer LNCS 13690, pp. 392–408.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