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Unsupervised Visual Anomaly Detection for Industrial Quality Inspection</a:t>
            </a:r>
          </a:p>
          <a:p>
            <a:pPr>
              <a:spcBef>
                <a:spcPts val="1200"/>
              </a:spcBef>
              <a:defRPr sz="2000">
                <a:solidFill>
                  <a:srgbClr val="06B6D4"/>
                </a:solidFill>
              </a:defRPr>
            </a:pPr>
            <a:r>
              <a:t>Accuracy–Latency Comparison of PatchCore (CVPR 2022) and EfficientAD (WACV 2024)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48463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PROJECT TEAM MEMBERS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1. Vikrant Bendre (PRN: [Your PRN])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2. Puja Madan (PRN: [Teammate PRN])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3. Sourabh Tatiya (PRN: [Teammate PRN])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4. Prashant Dandade (PRN: [Teammate PRN])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474720"/>
            <a:ext cx="5029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56616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ACADEMIC &amp; COURSE DETAILS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Subject: Computer Vision (AIM3003)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School: School of Computer Science, Engineering &amp; Applications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Institution: D Y Patil International University, Pune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Faculty In-Charge: [Faculty Guide Name]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CONTEXT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Industrial Motivation: The Quality Inspection Dilemma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The High-Speed Factory Challenge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High-throughput manufacturing (vials, fasteners, microelectronics) operates at thousands of units per hour.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Manual human visual inspection suffers from high labor costs, eye fatigue, and subjective error rates.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 single undetected cracked vial or chipped thread leads to catastrophic recalls and system failures.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Why Supervised Deep Learning Fails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Defect Scarcity: Factory scrap rates are &lt;0.1%; defective data is virtually impossible to collect in bulk.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Unbounded Flaw Variations: Defects take infinite unknown forms (scratches, dents, voids, warping, contaminants).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Supervised models (YOLO / CNN classifiers) fail silently when encountering unseen defect modes.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SCOPE &amp; ENGINEERING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The Unsupervised Solution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Train vision models strictly on 100% defect-free ('golden') parts to learn the normal visual manifold.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At test time, calculate pixel-level deviation from normal representations.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Any significant visual deviation is flagged as an anomaly and localized on an explainable heatmap.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Specific Project Deliverables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Implement PatchCore from scratch in PyTorch to demonstrate complete architectural understanding.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Perform an empirical trade-off study: PatchCore (CVPR '22) vs. EfficientAD (WACV '24).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Benchmark on MVTec AD across accuracy, latency, and memory metrics.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Develop an interactive Streamlit UI with SQLite audit logging for industrial traceability.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STATE OF THE ART IN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Literature Survey: Evolution of Anomaly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2563EB"/>
                </a:solidFill>
              </a:defRPr>
            </a:pPr>
            <a:r>
              <a:t>PaDiM (ICPR 2020): Multivariate Gaussian modeling on pre-trained patch features</a:t>
            </a:r>
          </a:p>
          <a:p>
            <a:pPr>
              <a:defRPr sz="1300">
                <a:solidFill>
                  <a:srgbClr val="10956A"/>
                </a:solidFill>
              </a:defRPr>
            </a:pPr>
            <a:r>
              <a:t>   [Advantage]: Fast inference; no gradient backprop required</a:t>
            </a:r>
          </a:p>
          <a:p>
            <a:pPr>
              <a:defRPr sz="1300">
                <a:solidFill>
                  <a:srgbClr val="B91C1C"/>
                </a:solidFill>
              </a:defRPr>
            </a:pPr>
            <a:r>
              <a:t>   [Limitation]: Memory scales with resolution; assumes Gaussianity</a:t>
            </a:r>
          </a:p>
          <a:p>
            <a:pPr>
              <a:spcBef>
                <a:spcPts val="800"/>
              </a:spcBef>
              <a:defRPr sz="1400" b="1">
                <a:solidFill>
                  <a:srgbClr val="2563EB"/>
                </a:solidFill>
              </a:defRPr>
            </a:pPr>
            <a:r>
              <a:t>PatchCore (CVPR 2022): Neighborhood patch aggregation + Greedy Coreset memory bank</a:t>
            </a:r>
          </a:p>
          <a:p>
            <a:pPr>
              <a:defRPr sz="1300">
                <a:solidFill>
                  <a:srgbClr val="10956A"/>
                </a:solidFill>
              </a:defRPr>
            </a:pPr>
            <a:r>
              <a:t>   [Advantage]: State-of-the-art AUROC (99.1%); 0 training epochs</a:t>
            </a:r>
          </a:p>
          <a:p>
            <a:pPr>
              <a:defRPr sz="1300">
                <a:solidFill>
                  <a:srgbClr val="B91C1C"/>
                </a:solidFill>
              </a:defRPr>
            </a:pPr>
            <a:r>
              <a:t>   [Limitation]: Large memory bank; high search latency per query</a:t>
            </a:r>
          </a:p>
          <a:p>
            <a:pPr>
              <a:spcBef>
                <a:spcPts val="800"/>
              </a:spcBef>
              <a:defRPr sz="1400" b="1">
                <a:solidFill>
                  <a:srgbClr val="2563EB"/>
                </a:solidFill>
              </a:defRPr>
            </a:pPr>
            <a:r>
              <a:t>VisA (ECCV 2022): Multi-object complex dataset &amp; self-supervised pre-training</a:t>
            </a:r>
          </a:p>
          <a:p>
            <a:pPr>
              <a:defRPr sz="1300">
                <a:solidFill>
                  <a:srgbClr val="10956A"/>
                </a:solidFill>
              </a:defRPr>
            </a:pPr>
            <a:r>
              <a:t>   [Advantage]: High structural diversity; cross-domain evaluation</a:t>
            </a:r>
          </a:p>
          <a:p>
            <a:pPr>
              <a:defRPr sz="1300">
                <a:solidFill>
                  <a:srgbClr val="B91C1C"/>
                </a:solidFill>
              </a:defRPr>
            </a:pPr>
            <a:r>
              <a:t>   [Limitation]: Requires complex pretext task training</a:t>
            </a:r>
          </a:p>
          <a:p>
            <a:pPr>
              <a:spcBef>
                <a:spcPts val="800"/>
              </a:spcBef>
              <a:defRPr sz="1400" b="1">
                <a:solidFill>
                  <a:srgbClr val="2563EB"/>
                </a:solidFill>
              </a:defRPr>
            </a:pPr>
            <a:r>
              <a:t>EfficientAD (WACV 2024): Student-Teacher distillation network + Autoencoder branch</a:t>
            </a:r>
          </a:p>
          <a:p>
            <a:pPr>
              <a:defRPr sz="1300">
                <a:solidFill>
                  <a:srgbClr val="10956A"/>
                </a:solidFill>
              </a:defRPr>
            </a:pPr>
            <a:r>
              <a:t>   [Advantage]: Sub-10ms millisecond latency; minimal memory</a:t>
            </a:r>
          </a:p>
          <a:p>
            <a:pPr>
              <a:defRPr sz="1300">
                <a:solidFill>
                  <a:srgbClr val="B91C1C"/>
                </a:solidFill>
              </a:defRPr>
            </a:pPr>
            <a:r>
              <a:t>   [Limitation]: Requires multi-stage backpropagation per 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INDUSTRIAL VISION GOLD STANDARD (BERGMANN ET AL., CVPR 2019)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Benchmark Dataset: MVTec Anomaly Detection (MVTec AD)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Dataset Architecture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5,354 high-resolution real-world industrial photographs across 15 categories.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5 Texture Categories: Carpet, Grid, Leather, Tile, Wood.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10 Object Categories: Bottle, Cable, Capsule, Hazelnut, Metal Nut, Pill, Screw, Toothbrush, Transistor, Zipper.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Captured under controlled industrial lighting and fixed optical sensors.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Experimental Protocol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Training Split: Strictly defect-free ('good') parts (True Unsupervised setting).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Test Split: Both normal parts and &gt;70 real industrial defect types (cracks, scratches, voids, contamination).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Ground Truth Masks: Pixel-accurate binary segmentation annotations for spatial localization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ROTH ET AL. (CVPR 2022) — MEMORY-BANK NON-PARAMETRIC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 1: PatchCore Architecture (From-Scratch Implementation)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Deep Feature Extraction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Utilizes pre-trained WideResNet-50 / ResNet-18 as a fixed feature backbone.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Forward Hooks attached to Layer 2 and Layer 3 to extract mid-level representations.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Layer 2 captures fine edge textures; Layer 3 captures part structure and geometry.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Bilinear upsampling aligns spatial resolutions for multi-scale feature concatenation.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Local Neighborhood Pooling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Applies 3x3 Average Pooling with stride 1 to local patch feature maps.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Incorporates contextual spatial surrounding into every individual patch descriptor.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Renders patch representations robust to minor sensor vibrations and alignment jitter.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Yields rich 384-dimensional locally-aware patch vectors.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REDUCING SEARCH COMPLEXITY FROM O(N) TO O(CORESET)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Mathematical Optimization: Coreset Subsampling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Dimensionality Reduction (Johnson-Lindenstrauss)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209 normal training images generate 163,856 patch vectors of dimension 384.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Direct distance calculations in 384-D are computationally prohibitive for online QA.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Sparse Random Projection projects vectors from 384-D down to 128-D.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By the Johnson-Lindenstrauss lemma, pairwise Euclidean metric topology is preserved with negligible distortion.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Min-Max Greedy k-Center Algorithm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Iteratively selects vectors that maximize distance to already selected centers.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Ensures optimal geometric coverage of the normal feature manifold without redundancy.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Compresses memory bank by 99% (from 163,856 down to 1,638 patches).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Maintains 99%+ of full-bank detection accuracy with massive latency reduction.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BATZNER ET AL. (WACV 2024) — MILLISECOND-LEVEL KNOWLEDGE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 2: EfficientAD Architecture (Comparison Benchmark)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Student-Teacher Distillation Concept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Replaces memory bank nearest-neighbor search with a lightweight forward neural network.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Teacher Network: Fixed Patch Description Network (PDN) pre-trained on ImageNet.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Student Network: Trained via backpropagation to imitate Teacher outputs exclusively on normal images.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Autoencoder Branch: Captures long-range structural deviations that Student might mimic.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Inference &amp; Latency Profile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Normal patches yield identical Student and Teacher features (Difference ~ 0).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Anomalous patches cannot be reconstructed by Student -&gt; High feature difference flags defect.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Inference requires only a single feed-forward CNN pass.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Achieves millisecond latencies (&lt;10ms on GPU), ideal for fast conveyor sorting.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ARCHITECTURAL &amp; OPERATIONAL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Target Benchmarks: PatchCore vs. EfficientAD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Evaluation Dimension      | PatchCore (CVPR 2022)               | EfficientAD (WACV 2024)            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Fundamental Paradigm      | Non-parametric Instance Memory Bank | Student-Teacher Distillation + Autoencoder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Training Requirement      | 0 Epochs (Deterministic coreset extraction) | ~70,000 Iterations of Backpropagation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Indexing / Training Time  | Fast (~10-15 seconds per category)  | Substantial (~1-2 hours per category on GPU)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Query Inference Latency   | High (50-150ms GPU / ~2500ms CPU)   | Ultra-Low (&lt;10ms GPU / &lt;50ms CPU)  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Memory Footprint          | High (Stores thousands of patch embeddings) | Minimal (Fixed small CNN weight parameters)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Published Image AUROC     | 99.1% (CVPR 2022 Benchmark)         | 99.1% (WACV 2024 Benchmark)        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Published Pixel AUROC     | 98.1% (CVPR 2022 Benchmark)         | 97.8% (WACV 2024 Benchmark)        </a:t>
            </a:r>
          </a:p>
          <a:p>
            <a:pPr>
              <a:spcBef>
                <a:spcPts val="1400"/>
              </a:spcBef>
              <a:defRPr sz="1100" i="1">
                <a:solidFill>
                  <a:srgbClr val="64748B"/>
                </a:solidFill>
              </a:defRPr>
            </a:pPr>
            <a:r>
              <a:t>*Note: Benchmark values shown are published target baselines from original papers; local experimental results detailed on next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EMPIRICAL RUN RESULTS ON MVTEC 'BOTTLE'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Experimental Validation: Run on Local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Quantitative Metrics &amp; Scoring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Dataset: 209 normal training samples -&gt; 163,856 patch descriptors.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Memory Bank: Coreset subsampled to 1,638 vectors (1.0% compression ratio).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Defective Sample ('broken_large'): Score = 3.2781 -&gt; Verdict: DEFECT (True Positive).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Normal Sample ('good'): Score = 1.3007 -&gt; Verdict: PASS (True Negative).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Decision Threshold: Calibrated at 2.5000.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Experimental Analysis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Separation Margin: Score difference of Delta = 1.9774 between defective and normal parts.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Zero False Positives: Clean separation ensures noise tolerance under normal production variations.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CPU Latency Profile: ~2274ms - 2582ms on Intel CPU (identifies need for GPU / INT8 quantization for edge deployment).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Verified from-scratch implementation without anomalib dependency.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FROM NEAREST-NEIGHBOR DISTANCES TO EXPLAINABLE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Defect Localization: Anomaly Heatmap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Spatial Map Processing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Raw patch distances are arranged into a 14x14 (or 28x28) spatial anomaly grid.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Bilinear Interpolation upsamples the grid to the original 224x224 input resolution.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Gaussian Spatial Smoothing (sigma = 4) convolved across the anomaly map.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Smoothing eliminates high-frequency noise spikes and isolates contiguous defect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Operator Explainability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Normalized map mapped to [0, 255] color index and converted via cv2.COLORMAP_JET.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Alpha-blended with raw inspection image: Display = 0.6 * Image + 0.4 * Heatmap.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Provides factory technicians with immediate visual proof of defect location.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Pixel AUROC and Per-Region Overlap (PRO) metrics evaluate boundary precision.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BRIDGING MODEL RESEARCH TO FACTORY FLOOR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Production Console: Streamlit UI &amp; SQLite Audit Trail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Streamlit Inspection Dashboard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Interactive Operator Console: Image upload or live MVTec test set sample picker.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Side-by-side inspection layout: Original raw feed vs. Defect Heatmap overlay.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Real-time Telemetry: Live gauges for Anomaly Score, Latency (ms), and Dynamic Threshold.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Operator override and sensitivity sliders for calibrated factory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Industrial Traceability (SQLite)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Mirrors aviation / GE Aerospace exception logging standards.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Every inspection event commits a permanent audit record into inspections.db.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Stores timestamp, part category, model type, anomaly score, threshold, verdict, and latency.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Enables ISO 9001 quality audit compliance and historical drift analytics.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12-WEEK STRUCTURED MILESTONES &amp; WORK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Execution Roadmap &amp; Team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Phased 12-Week Timeline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Phase 1 (W1-W3): MVTec AD data loader, evaluation metric harness (Image/Pixel AUROC, PRO).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Phase 2 (W4-W7): From-scratch PatchCore implementation &amp; memory bank coreset optimization.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Phase 3 (W8-W9): EfficientAD training on 5 representative classes &amp; stress testing (lighting/noise).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Phase 4 (W10-W12): Streamlit UI, SQLite audit trail, final report, and viva 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Team Task Division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Vikrant Bendre: PyTorch feature hooks, Johnson-Lindenstrauss projection, and greedy k-center.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Puja Madan: MVTec dataset pipeline, preprocessing transforms, and pixel ground truth alignment.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Sourabh Tatiya: EfficientAD student-teacher training loop and loss formulation.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Prashant Dandade: Streamlit inspection dashboard, SQLite audit logging, and latency profiling.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KEY TAKEAWAYS &amp; INDUSTRIAL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Key Conclusions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Unsupervised one-class learning successfully solves defect scarcity in industrial vision.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PatchCore delivers exceptional zero-shot transfer without gradient training epochs.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Greedy k-Center coreset reduces memory footprint by 99% with virtually zero accuracy degradation.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Clear engineering trade-off: PatchCore excels in training-free setups; EfficientAD leads in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Future Enhancements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Edge Optimization: Model quantization (INT8) and TensorRT compilation for sub-10ms CPU/NPU inference.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Unified Multi-Class Memory Bank: Single joint model covering all 15 MVTec categories.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3D Vision Integration: Expanding from 2D RGB inspection to 3D point cloud anomaly detection (MVTec 3D-AD).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VERIFIED LITERATURE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Academic References &amp; Citations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1. PatchCore (Main Paper):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Roth, K., Pemula, L., Zepeda, J., Schölkopf, B., Brox, T., &amp; Gehler, P. (2022). Towards Total Recall in Industrial Anomaly Detection. In Proceedings of the IEEE/CVF Conference on Computer Vision and Pattern Recognition (CVPR), pp. 14298–14308.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2. EfficientAD (Comparison Paper):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Batzner, K., Heckler, L., &amp; König, R. (2024). EfficientAD: Accurate Visual Anomaly Detection at Millisecond-Level Latencies. In Proceedings of the IEEE/CVF Winter Conference on Applications of Computer Vision (WACV), pp. 127–137.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3. MVTec AD (Dataset Paper):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Bergmann, P., Fauser, M., Sattlegger, D., &amp; Steger, C. (2019). MVTec AD — A Comprehensive Real-World Dataset for Unsupervised Anomaly Detection. In Proceedings of the IEEE/CVF Conference on Computer Vision and Pattern Recognition (CVPR), pp. 9584–9592.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4. PaDiM (Baseline Paper):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Defard, T., Setkov, A., Loesch, A., &amp; Audigier, R. (2021). PaDiM: A Patch Distribution Modeling Framework for Anomaly Detection and Localization. In International Conference on Pattern Recognition (ICPR Workshops), Springer LNCS 12664, pp. 475–489.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5. VisA (Benchmark Paper):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Zou, Y., Jeong, J., Pemula, L., Zhang, D., &amp; Dhome, M. (2022). SPot-the-Difference: Self-Supervised Pre-training for Anomaly Detection and Segmentation (VisA). In European Conference on Computer Vision (ECCV), Springer LNCS 13690, pp. 392–408.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